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2" d="100"/>
          <a:sy n="42" d="100"/>
        </p:scale>
        <p:origin x="446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AAPL (split-adjusted)</c:v>
                </c:pt>
              </c:strCache>
            </c:strRef>
          </c:tx>
          <c:spPr>
            <a:ln w="31750" cap="flat">
              <a:solidFill>
                <a:srgbClr val="D4A01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4A017"/>
              </a:solidFill>
              <a:ln w="9525" cap="flat">
                <a:solidFill>
                  <a:srgbClr val="D4A017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1997</c:v>
                </c:pt>
                <c:pt idx="1">
                  <c:v>1998</c:v>
                </c:pt>
                <c:pt idx="2">
                  <c:v>1999</c:v>
                </c:pt>
                <c:pt idx="3">
                  <c:v>2000</c:v>
                </c:pt>
                <c:pt idx="4">
                  <c:v>2001</c:v>
                </c:pt>
                <c:pt idx="5">
                  <c:v>2002</c:v>
                </c:pt>
                <c:pt idx="6">
                  <c:v>2003</c:v>
                </c:pt>
                <c:pt idx="7">
                  <c:v>2004</c:v>
                </c:pt>
                <c:pt idx="8">
                  <c:v>2005</c:v>
                </c:pt>
                <c:pt idx="9">
                  <c:v>2006</c:v>
                </c:pt>
                <c:pt idx="10">
                  <c:v>2007</c:v>
                </c:pt>
                <c:pt idx="11">
                  <c:v>2008</c:v>
                </c:pt>
                <c:pt idx="12">
                  <c:v>2009</c:v>
                </c:pt>
                <c:pt idx="13">
                  <c:v>2010</c:v>
                </c:pt>
                <c:pt idx="14">
                  <c:v>2011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0.49</c:v>
                </c:pt>
                <c:pt idx="1">
                  <c:v>1.27</c:v>
                </c:pt>
                <c:pt idx="2">
                  <c:v>3.8</c:v>
                </c:pt>
                <c:pt idx="3">
                  <c:v>1</c:v>
                </c:pt>
                <c:pt idx="4">
                  <c:v>0.43</c:v>
                </c:pt>
                <c:pt idx="5">
                  <c:v>0.32</c:v>
                </c:pt>
                <c:pt idx="6">
                  <c:v>0.98</c:v>
                </c:pt>
                <c:pt idx="7">
                  <c:v>2.68</c:v>
                </c:pt>
                <c:pt idx="8">
                  <c:v>7.16</c:v>
                </c:pt>
                <c:pt idx="9">
                  <c:v>10.67</c:v>
                </c:pt>
                <c:pt idx="10">
                  <c:v>19.91</c:v>
                </c:pt>
                <c:pt idx="11">
                  <c:v>11.17</c:v>
                </c:pt>
                <c:pt idx="12">
                  <c:v>27.44</c:v>
                </c:pt>
                <c:pt idx="13">
                  <c:v>46.08</c:v>
                </c:pt>
                <c:pt idx="14">
                  <c:v>55.01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9AD-4820-B9C3-22C96036CC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Price (USD)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1F3AB1-3B52-432F-A1F7-611995982857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279274-63E5-4B7C-83C5-927B05906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608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20040"/>
            <a:ext cx="64008" cy="44805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E8E93"/>
                </a:solidFill>
                <a:latin typeface="Calibri"/>
              </a:rPr>
              <a:t>PRESENTATION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Georgia"/>
              </a:rPr>
              <a:t>Steve Jobs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347472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E8E93"/>
                </a:solidFill>
                <a:latin typeface="Calibri"/>
              </a:rPr>
              <a:t>Course Title</a:t>
            </a:r>
          </a:p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Operating System</a:t>
            </a:r>
          </a:p>
          <a:p>
            <a:pPr algn="l"/>
            <a:r>
              <a:rPr sz="1000" b="0" i="1">
                <a:solidFill>
                  <a:srgbClr val="8E8E93"/>
                </a:solidFill>
                <a:latin typeface="Calibri"/>
              </a:rPr>
              <a:t>Course Code</a:t>
            </a:r>
          </a:p>
          <a:p>
            <a:pPr algn="l"/>
            <a:r>
              <a:rPr sz="1700" b="1" i="0">
                <a:solidFill>
                  <a:srgbClr val="D4A017"/>
                </a:solidFill>
                <a:latin typeface="Calibri"/>
              </a:rPr>
              <a:t>ICT-2201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320040"/>
            <a:ext cx="45720" cy="4480560"/>
          </a:xfrm>
          <a:prstGeom prst="rect">
            <a:avLst/>
          </a:prstGeom>
          <a:solidFill>
            <a:srgbClr val="3A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09160" y="320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017"/>
                </a:solidFill>
                <a:latin typeface="Calibri"/>
              </a:rPr>
              <a:t>PRESENTED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658368"/>
            <a:ext cx="4114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Md. Zahid Fahamid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D1D1D6"/>
                </a:solidFill>
                <a:latin typeface="Calibri"/>
              </a:rPr>
              <a:t>ID: IT-24012</a:t>
            </a:r>
          </a:p>
          <a:p>
            <a:pPr algn="l"/>
            <a:r>
              <a:rPr sz="1200" b="0" i="0">
                <a:solidFill>
                  <a:srgbClr val="8E8E93"/>
                </a:solidFill>
                <a:latin typeface="Calibri"/>
              </a:rPr>
              <a:t>Department of Information and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8E8E93"/>
                </a:solidFill>
                <a:latin typeface="Calibri"/>
              </a:rPr>
              <a:t>Communication Technology</a:t>
            </a:r>
          </a:p>
          <a:p>
            <a:pPr algn="l"/>
            <a:r>
              <a:rPr sz="1200" b="0" i="0">
                <a:solidFill>
                  <a:srgbClr val="8E8E93"/>
                </a:solidFill>
                <a:latin typeface="Calibri"/>
              </a:rPr>
              <a:t>Mawlana Bhashani Science and</a:t>
            </a:r>
          </a:p>
          <a:p>
            <a:pPr algn="l"/>
            <a:r>
              <a:rPr sz="1200" b="0" i="0">
                <a:solidFill>
                  <a:srgbClr val="8E8E93"/>
                </a:solidFill>
                <a:latin typeface="Calibri"/>
              </a:rPr>
              <a:t>Technology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2514600"/>
            <a:ext cx="3474720" cy="36576"/>
          </a:xfrm>
          <a:prstGeom prst="rect">
            <a:avLst/>
          </a:prstGeom>
          <a:solidFill>
            <a:srgbClr val="3A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9160" y="26334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017"/>
                </a:solidFill>
                <a:latin typeface="Calibri"/>
              </a:rPr>
              <a:t>SUPERVISED 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944368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Dr. Nazrul Islam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D1D1D6"/>
                </a:solidFill>
                <a:latin typeface="Calibri"/>
              </a:rPr>
              <a:t>Associate Professor</a:t>
            </a:r>
          </a:p>
          <a:p>
            <a:pPr algn="l"/>
            <a:r>
              <a:rPr sz="1200" b="0" i="0">
                <a:solidFill>
                  <a:srgbClr val="8E8E93"/>
                </a:solidFill>
                <a:latin typeface="Calibri"/>
              </a:rPr>
              <a:t>Department of Information and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8E8E93"/>
                </a:solidFill>
                <a:latin typeface="Calibri"/>
              </a:rPr>
              <a:t>Communication Technology</a:t>
            </a:r>
          </a:p>
          <a:p>
            <a:pPr algn="l"/>
            <a:r>
              <a:rPr sz="1200" b="0" i="0">
                <a:solidFill>
                  <a:srgbClr val="8E8E93"/>
                </a:solidFill>
                <a:latin typeface="Calibri"/>
              </a:rPr>
              <a:t>Mawlana Bhashani Science and</a:t>
            </a:r>
          </a:p>
          <a:p>
            <a:pPr algn="l"/>
            <a:r>
              <a:rPr sz="1200" b="0" i="0">
                <a:solidFill>
                  <a:srgbClr val="8E8E93"/>
                </a:solidFill>
                <a:latin typeface="Calibri"/>
              </a:rPr>
              <a:t>Technology University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0"/>
            <a:ext cx="64008" cy="32918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91440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kern="0" spc="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STEVE JOBS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85800" y="2514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Visionary. Rebel. Icon.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3200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1955 – 2011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572000"/>
            <a:ext cx="84124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people who are crazy enough to think they can change the world are the ones who do."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274320" y="233172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</a:t>
            </a:r>
            <a:r>
              <a:rPr lang="en-US" sz="1400" dirty="0">
                <a:solidFill>
                  <a:srgbClr val="D1D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February 24, 1955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D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Francisco, CA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D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by Paul &amp; Clara Jobs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D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Mountain View, CA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Out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D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Reed College, 1972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D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 calligraphy courses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023360" y="4572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Garage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the World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023360" y="1828800"/>
            <a:ext cx="822960" cy="4114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0" y="18288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83480" y="184708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out of Reed College after 6 months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23360" y="2578608"/>
            <a:ext cx="822960" cy="4114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0" y="257860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83480" y="259689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at Atari as a technician; travels India seeking enlightenment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023360" y="3328416"/>
            <a:ext cx="822960" cy="4114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3328416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83480" y="334670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Co-founds Apple Computer with Wozniak &amp; Wayne in his parents' garage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023360" y="4078224"/>
            <a:ext cx="822960" cy="4114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0" y="407822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1977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409651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II launches — one of the first mass-market personal computers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2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APPLE YEARS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1976 – 1985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114800" cy="1600200"/>
          </a:xfrm>
          <a:prstGeom prst="rect">
            <a:avLst/>
          </a:prstGeom>
          <a:solidFill>
            <a:srgbClr val="F5F5F7"/>
          </a:solidFill>
          <a:ln w="6350">
            <a:solidFill>
              <a:srgbClr val="D1D1D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54864" cy="16002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Apple 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3911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Hand-built by Wozniak. Sold as a bare circuit board for $666.66. Only 200 units made.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4114800" cy="1600200"/>
          </a:xfrm>
          <a:prstGeom prst="rect">
            <a:avLst/>
          </a:prstGeom>
          <a:solidFill>
            <a:srgbClr val="F5F5F7"/>
          </a:solidFill>
          <a:ln w="6350">
            <a:solidFill>
              <a:srgbClr val="D1D1D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325880"/>
            <a:ext cx="54864" cy="16002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Apple II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1783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1977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03911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hugely successful personal computer. Color graphics, sound. Drove Apple's first $1B valuation.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4114800" cy="1600200"/>
          </a:xfrm>
          <a:prstGeom prst="rect">
            <a:avLst/>
          </a:prstGeom>
          <a:solidFill>
            <a:srgbClr val="F5F5F7"/>
          </a:solidFill>
          <a:ln w="6350">
            <a:solidFill>
              <a:srgbClr val="D1D1D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108960"/>
            <a:ext cx="54864" cy="16002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48640" y="35661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82219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commercial PC with a GUI. Expensive at $9,995, but established the blueprint for modern computing.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754880" y="3108960"/>
            <a:ext cx="4114800" cy="1600200"/>
          </a:xfrm>
          <a:prstGeom prst="rect">
            <a:avLst/>
          </a:prstGeom>
          <a:solidFill>
            <a:srgbClr val="F5F5F7"/>
          </a:solidFill>
          <a:ln w="6350">
            <a:solidFill>
              <a:srgbClr val="D1D1D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108960"/>
            <a:ext cx="54864" cy="16002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Macintosh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37760" y="35661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382219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Iconic '1984' Super Bowl ad. Changed personal computing forever. "Hello." Jobs at his showman peak.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WILDERNESS YEARS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1985 – 1996  ·  Fired. Reinvented. Returned.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3840480" cy="3383280"/>
          </a:xfrm>
          <a:prstGeom prst="rect">
            <a:avLst/>
          </a:prstGeom>
          <a:solidFill>
            <a:srgbClr val="3A3A3C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1985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D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Built workstations for higher education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1D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Pioneered object-oriented programming frameworks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1D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Tim Berners-Lee created the World Wide Web on a NeXT machine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1D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Apple acquired NeXT in 1997 for $429 million — bringing Jobs home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371600"/>
            <a:ext cx="3840480" cy="3383280"/>
          </a:xfrm>
          <a:prstGeom prst="rect">
            <a:avLst/>
          </a:prstGeom>
          <a:solidFill>
            <a:srgbClr val="3A3A3C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508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Pixar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29200" y="2011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Acquired 1986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237744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D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Bought from George Lucas for $10 million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1D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Produced Toy Story (1995) — first fully computer-animated feature film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1D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Pixar IPO raised $140M on opening day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1D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Disney acquired Pixar in 2006 for $7.4 billion, making Jobs Disney's largest shareholder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2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COMEBACK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1997 – 2003  ·  "Think Different."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1480" y="1399032"/>
            <a:ext cx="685800" cy="384048"/>
          </a:xfrm>
          <a:prstGeom prst="ellipse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9903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Returns  —  Jobs returned as interim CEO after Apple's acquisition of NeXT. Apple was 90 days from bankruptcy.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11480" y="2121408"/>
            <a:ext cx="685800" cy="384048"/>
          </a:xfrm>
          <a:prstGeom prst="ellipse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121408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1998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34440" y="209397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iMac  —  Colorful, all-in-one design shattered the beige-box norm. Sold 800,000 units in 5 months, saving Apple.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11480" y="2843784"/>
            <a:ext cx="685800" cy="384048"/>
          </a:xfrm>
          <a:prstGeom prst="ellipse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84378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34440" y="28163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OS X  —  NeXT-based operating system. Stable, beautiful, and the foundation of every Apple OS to this day.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11480" y="3566160"/>
            <a:ext cx="685800" cy="384048"/>
          </a:xfrm>
          <a:prstGeom prst="ellipse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56616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34440" y="353872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iPod  —  "1,000 songs in your pocket." Redefined portable music and Apple's identity beyond the computer industry.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11480" y="4288536"/>
            <a:ext cx="685800" cy="384048"/>
          </a:xfrm>
          <a:prstGeom prst="ellipse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288536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34440" y="426110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iTunes Store  —  99 cents per song. Solved music piracy with a legal, frictionless experience. Sold 1 million songs in 6 days.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"Today, Apple is going to reinvent the phone."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kern="0" spc="1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iPHONE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9, 2007 — Macworld Expo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2103120"/>
            <a:ext cx="1920240" cy="2651760"/>
          </a:xfrm>
          <a:prstGeom prst="rect">
            <a:avLst/>
          </a:prstGeom>
          <a:solidFill>
            <a:srgbClr val="1C1C1E"/>
          </a:solidFill>
          <a:ln w="6350">
            <a:solidFill>
              <a:srgbClr val="3A3A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240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6M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11480" y="333756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1D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D1D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year one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68880" y="2103120"/>
            <a:ext cx="1920240" cy="2651760"/>
          </a:xfrm>
          <a:prstGeom prst="rect">
            <a:avLst/>
          </a:prstGeom>
          <a:solidFill>
            <a:srgbClr val="1C1C1E"/>
          </a:solidFill>
          <a:ln w="6350">
            <a:solidFill>
              <a:srgbClr val="3A3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2240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2514600" y="333756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1D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D1D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world by 2008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2103120"/>
            <a:ext cx="1920240" cy="2651760"/>
          </a:xfrm>
          <a:prstGeom prst="rect">
            <a:avLst/>
          </a:prstGeom>
          <a:solidFill>
            <a:srgbClr val="1C1C1E"/>
          </a:solidFill>
          <a:ln w="6350">
            <a:solidFill>
              <a:srgbClr val="3A3A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2240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$2T+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4617720" y="333756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1D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valuation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D1D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(2020 milestone)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75120" y="2103120"/>
            <a:ext cx="1920240" cy="2651760"/>
          </a:xfrm>
          <a:prstGeom prst="rect">
            <a:avLst/>
          </a:prstGeom>
          <a:solidFill>
            <a:srgbClr val="1C1C1E"/>
          </a:solidFill>
          <a:ln w="6350">
            <a:solidFill>
              <a:srgbClr val="3A3A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2240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6720840" y="333756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1D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Apple revenue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D1D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iPhone today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APPLE'S STOCK PRICE UNDER JOBS' LEADERSHIP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Split-adjusted AAPL closing price — select milestones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05840"/>
          <a:ext cx="841248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LEADERSHIP PHILOSOPHY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2344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Obsession with Design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58191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"Design is not just what it looks like and feels like. Design is how it works." Jobs believed that form and function were inseparable.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502920" cy="502920"/>
          </a:xfrm>
          <a:prstGeom prst="ellipse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94960" y="12344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Simplicity First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94960" y="158191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famously said 'no' far more than 'yes.' Removing every unnecessary element was a deliberate and ruthless process.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542032"/>
            <a:ext cx="502920" cy="502920"/>
          </a:xfrm>
          <a:prstGeom prst="ellipse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4963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Reality Distortion Field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2843784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Jobs' ability to convince his teams — and the market — that the impossible was achievable. Driven by relentless optimism and willpower.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2542032"/>
            <a:ext cx="502920" cy="502920"/>
          </a:xfrm>
          <a:prstGeom prst="ellipse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94960" y="24963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Control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94960" y="2843784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+ software + retail + supply chain. Jobs insisted on controlling every touchpoint to guarantee the user experience.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3803904"/>
            <a:ext cx="502920" cy="502920"/>
          </a:xfrm>
          <a:prstGeom prst="ellipse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8039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375818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Intersection of Arts &amp; Tech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05840" y="4105656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"Technology alone is not enough. It's technology married with liberal arts that makes our hearts sing."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3803904"/>
            <a:ext cx="502920" cy="502920"/>
          </a:xfrm>
          <a:prstGeom prst="ellipse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38039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94960" y="375818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Hire A-Players Only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394960" y="4105656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"A-players hire A-players. B-players hire C-players." Jobs recruited obsessively and demanded excellence at every level.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kern="0" spc="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LEGACY</a:t>
            </a:r>
            <a:endParaRPr lang="en-US" sz="6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1148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54864" cy="3200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80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D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Transformed six industries: personal computing, music, phones, tablets, digital retail, and animated film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75104"/>
            <a:ext cx="54864" cy="3200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8366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D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became the world's first $1 trillion and later $2 trillion publicly traded company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578608"/>
            <a:ext cx="54864" cy="3200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487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D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iPhone fundamentally altered how 4+ billion people communicate, navigate, and create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182112"/>
            <a:ext cx="54864" cy="3200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0906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D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the concept of the App Economy — now a $500+ billion global market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85616"/>
            <a:ext cx="54864" cy="3200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69417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D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Stanford 2005 commencement speech remains one of the most-watched talks of all time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389120"/>
            <a:ext cx="54864" cy="3200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2976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D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one of Time magazine's 100 most influential people of the 20th century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365760"/>
            <a:ext cx="2743200" cy="2743200"/>
          </a:xfrm>
          <a:prstGeom prst="ellipse">
            <a:avLst/>
          </a:prstGeom>
          <a:solidFill>
            <a:srgbClr val="D4A017">
              <a:alpha val="12000"/>
            </a:srgbClr>
          </a:solidFill>
          <a:ln w="12700">
            <a:solidFill>
              <a:srgbClr val="D4A017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7724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“Stay Hungry.</a:t>
            </a:r>
            <a:endParaRPr lang="en-US" sz="5200" dirty="0"/>
          </a:p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 Foolish.”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Steve Jobs, Stanford Commencement Address, 2005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0" y="3703320"/>
            <a:ext cx="2743200" cy="54864"/>
          </a:xfrm>
          <a:prstGeom prst="rect">
            <a:avLst/>
          </a:prstGeom>
          <a:solidFill>
            <a:srgbClr val="8E8E93"/>
          </a:solidFill>
          <a:ln w="12700">
            <a:solidFill>
              <a:srgbClr val="8E8E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kern="0" spc="400" dirty="0">
                <a:solidFill>
                  <a:srgbClr val="8E8E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1955 – 2011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journey is the reward."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848</Words>
  <Application>Microsoft Office PowerPoint</Application>
  <PresentationFormat>On-screen Show (16:9)</PresentationFormat>
  <Paragraphs>145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Steve Jobs: Visionary. Rebel. Icon.</dc:title>
  <dc:subject>PptxGenJS Presentation</dc:subject>
  <dc:creator>PptxGenJS</dc:creator>
  <cp:lastModifiedBy>Md. Zahid Fahamid</cp:lastModifiedBy>
  <cp:revision>3</cp:revision>
  <dcterms:created xsi:type="dcterms:W3CDTF">2026-05-02T07:07:29Z</dcterms:created>
  <dcterms:modified xsi:type="dcterms:W3CDTF">2026-05-02T18:56:00Z</dcterms:modified>
</cp:coreProperties>
</file>